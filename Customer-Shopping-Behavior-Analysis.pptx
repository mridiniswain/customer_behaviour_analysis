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icolage Grotesque ExtraBold"/>
      <p:regular r:id="rId17"/>
    </p:embeddedFont>
    <p:embeddedFont>
      <p:font typeface="Montserrat"/>
      <p:regular r:id="rId18"/>
    </p:embeddedFont>
    <p:embeddedFont>
      <p:font typeface="Montserrat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spending patterns, segments, and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guide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22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222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4434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5768206" y="34434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Demographics · Purchase details · Shopping behavior · Subscription status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387623"/>
            <a:ext cx="474999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878610" y="963662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78610" y="1167705"/>
            <a:ext cx="4815780" cy="1428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6" name="Text 3"/>
          <p:cNvSpPr/>
          <p:nvPr/>
        </p:nvSpPr>
        <p:spPr>
          <a:xfrm>
            <a:off x="3878610" y="12605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878610" y="1530995"/>
            <a:ext cx="481578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78610" y="19443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78610" y="2148408"/>
            <a:ext cx="4815780" cy="1428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0" name="Text 7"/>
          <p:cNvSpPr/>
          <p:nvPr/>
        </p:nvSpPr>
        <p:spPr>
          <a:xfrm>
            <a:off x="3878610" y="224120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Clean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878610" y="2511698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imputation for Review Rating; snake_case columns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78610" y="292030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78610" y="3124349"/>
            <a:ext cx="4815780" cy="1428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4" name="Text 11"/>
          <p:cNvSpPr/>
          <p:nvPr/>
        </p:nvSpPr>
        <p:spPr>
          <a:xfrm>
            <a:off x="3878610" y="321714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Engineer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878610" y="3487638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age_group, purchase_frequency_days; dropped promo_code_used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78610" y="3896246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78610" y="4100289"/>
            <a:ext cx="4815780" cy="1428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8" name="Text 15"/>
          <p:cNvSpPr/>
          <p:nvPr/>
        </p:nvSpPr>
        <p:spPr>
          <a:xfrm>
            <a:off x="3878610" y="41930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 to DB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878610" y="4463579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integration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female customers.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0651" y="2453432"/>
            <a:ext cx="1899642" cy="11384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7660" y="2614240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67660" y="2977455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$157,890 — 68% of total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3002" y="2453432"/>
            <a:ext cx="1899642" cy="11384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90011" y="2614240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Female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90011" y="2977455"/>
            <a:ext cx="15018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$75,191 — 32% of total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2403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73% of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most revenue — a major growth opportunity.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1880592" cy="1100361"/>
          </a:xfrm>
          <a:prstGeom prst="roundRect">
            <a:avLst>
              <a:gd name="adj" fmla="val 5411"/>
            </a:avLst>
          </a:prstGeom>
          <a:solidFill>
            <a:srgbClr val="282D5E"/>
          </a:solidFill>
          <a:ln/>
        </p:spPr>
      </p:sp>
      <p:sp>
        <p:nvSpPr>
          <p:cNvPr id="7" name="Text 4"/>
          <p:cNvSpPr/>
          <p:nvPr/>
        </p:nvSpPr>
        <p:spPr>
          <a:xfrm>
            <a:off x="4891460" y="2595190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91460" y="2958405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2,847 customers · $59.87 avg spend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72052" y="2453432"/>
            <a:ext cx="1880592" cy="1100361"/>
          </a:xfrm>
          <a:prstGeom prst="roundRect">
            <a:avLst>
              <a:gd name="adj" fmla="val 5411"/>
            </a:avLst>
          </a:prstGeom>
          <a:solidFill>
            <a:srgbClr val="282D5E"/>
          </a:solidFill>
          <a:ln/>
        </p:spPr>
      </p:sp>
      <p:sp>
        <p:nvSpPr>
          <p:cNvPr id="10" name="Text 7"/>
          <p:cNvSpPr/>
          <p:nvPr/>
        </p:nvSpPr>
        <p:spPr>
          <a:xfrm>
            <a:off x="6913811" y="2595190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13811" y="2958405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1,053 customers · $59.49 avg spend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4824"/>
            <a:ext cx="4406801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Customer Segmentation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49" y="1099393"/>
            <a:ext cx="3955256" cy="2847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6157" y="1084362"/>
            <a:ext cx="215138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Segment Breakdown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36157" y="1408956"/>
            <a:ext cx="39552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 purchase history — New, Returning, and Loyal customers.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870" y="1946151"/>
            <a:ext cx="3969544" cy="8153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23979" y="209111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Loyal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923979" y="2415704"/>
            <a:ext cx="36224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3,116 customers — dominant segment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1870" y="2881982"/>
            <a:ext cx="3969544" cy="8153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23979" y="302694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Returning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23979" y="3351535"/>
            <a:ext cx="36224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701 customers — growth potential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1870" y="3817813"/>
            <a:ext cx="3969544" cy="8153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3979" y="396277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New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923979" y="4287366"/>
            <a:ext cx="36224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 customers — acquisition focus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60497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Top Products &amp; Discount Trends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6308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24930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Highest Discount Rates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Hat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50.00%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Sneakers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49.66%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Coat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49.07%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Sweater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48.17%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Pants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47.37%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311861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839 customers used discounts and spent above average.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4158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lead revenue contribution. Revenue is relatively balanced across all age groups.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602382"/>
          </a:xfrm>
          <a:prstGeom prst="roundRect">
            <a:avLst>
              <a:gd name="adj" fmla="val 9884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30612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customer age: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 years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(range 18–70)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63092"/>
            <a:ext cx="40199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18680"/>
            <a:ext cx="2290465" cy="816843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960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3.9K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266950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18680"/>
            <a:ext cx="2290539" cy="816843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960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$59.76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266950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Purchase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777282"/>
            <a:ext cx="4722763" cy="816843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29190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3.75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225552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75359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Filters: Subscription Status · Gender · Category ·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5393" y="371252"/>
            <a:ext cx="4746724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Business Recommendations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5393" y="908968"/>
            <a:ext cx="243632" cy="2436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55393" y="1283419"/>
            <a:ext cx="15303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3855393" y="1536576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subscriber benefits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5393" y="1927101"/>
            <a:ext cx="243632" cy="2436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55393" y="230155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Loyalty Programs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3855393" y="2554709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→ Loyal segment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5393" y="2945234"/>
            <a:ext cx="243632" cy="2436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55393" y="3319686"/>
            <a:ext cx="174620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3855393" y="3572842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sales boosts with margin control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5393" y="3963367"/>
            <a:ext cx="243632" cy="2436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55393" y="433781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Targeted Marketing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3855393" y="4590976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high-revenue age groups &amp; express-shipping users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2026-06-03T08:02:46Z</dcterms:created>
  <dcterms:modified xsi:type="dcterms:W3CDTF">2026-06-03T08:02:46Z</dcterms:modified>
</cp:coreProperties>
</file>